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72" r:id="rId17"/>
    <p:sldId id="269" r:id="rId18"/>
    <p:sldId id="275" r:id="rId19"/>
    <p:sldId id="276" r:id="rId20"/>
    <p:sldId id="278" r:id="rId21"/>
    <p:sldId id="273" r:id="rId22"/>
    <p:sldId id="274" r:id="rId23"/>
    <p:sldId id="277" r:id="rId24"/>
    <p:sldId id="279" r:id="rId25"/>
    <p:sldId id="280" r:id="rId26"/>
    <p:sldId id="281" r:id="rId27"/>
    <p:sldId id="283" r:id="rId28"/>
    <p:sldId id="284" r:id="rId29"/>
    <p:sldId id="285" r:id="rId30"/>
    <p:sldId id="270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3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13232"/>
            <a:ext cx="1005840" cy="73152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0972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ADCE1"/>
                </a:solidFill>
                <a:latin typeface="Aptos"/>
              </a:defRPr>
            </a:pPr>
            <a:r>
              <a:t>AI-POWERED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Healthcare Claims</a:t>
            </a:r>
            <a:br/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1089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2E1EE"/>
                </a:solidFill>
                <a:latin typeface="Aptos"/>
              </a:defRPr>
            </a:pPr>
            <a:r>
              <a:t>RAG • Embeddings • Semantic Search • Vector Database • Intelligent EOB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3886200"/>
            <a:ext cx="2011680" cy="365760"/>
          </a:xfrm>
          <a:prstGeom prst="round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968496"/>
            <a:ext cx="19385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DEMO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498848"/>
            <a:ext cx="9601200" cy="55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DDAE6"/>
                </a:solidFill>
                <a:latin typeface="Aptos"/>
              </a:defRPr>
            </a:pPr>
            <a:br/>
            <a:r>
              <a:rPr lang="en-US" b="1"/>
              <a:t>Technologies - ReactJs (UI), Python - FastAPI(BE), MS-SQL Server, RAG, LLM, Vector DB, Semantic search</a:t>
            </a:r>
            <a:endParaRPr lang="en-US" b="1"/>
          </a:p>
        </p:txBody>
      </p:sp>
      <p:sp>
        <p:nvSpPr>
          <p:cNvPr id="9" name="TextBox 8"/>
          <p:cNvSpPr txBox="1"/>
          <p:nvPr/>
        </p:nvSpPr>
        <p:spPr>
          <a:xfrm>
            <a:off x="768096" y="58064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ECDDC"/>
                </a:solidFill>
                <a:latin typeface="Aptos"/>
              </a:defRPr>
            </a:pPr>
            <a:r>
              <a:t>Presented by  Jothis Nirmal and Prasad Dhass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13 •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6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/>
              <a:t>Real Impact on US Healthcare Industry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28" name="Table 27"/>
          <p:cNvGraphicFramePr/>
          <p:nvPr>
            <p:custDataLst>
              <p:tags r:id="rId1"/>
            </p:custDataLst>
          </p:nvPr>
        </p:nvGraphicFramePr>
        <p:xfrm>
          <a:off x="572770" y="1524000"/>
          <a:ext cx="10731500" cy="4419600"/>
        </p:xfrm>
        <a:graphic>
          <a:graphicData uri="http://schemas.openxmlformats.org/drawingml/2006/table">
            <a:tbl>
              <a:tblPr/>
              <a:tblGrid>
                <a:gridCol w="2063115"/>
                <a:gridCol w="3803015"/>
                <a:gridCol w="4865370"/>
              </a:tblGrid>
              <a:tr h="7366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Problem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Immediate Impact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Downstream Impact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</a:tr>
              <a:tr h="7366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 Days Delay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Payment remains outstanding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Cash-flow pressure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</a:tr>
              <a:tr h="7366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Denial Rework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Additional staff effort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Higher RCM operating cost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</a:tr>
              <a:tr h="7366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Missing Mandatory Fields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Claim rejection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Resubmission + payment delay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</a:tr>
              <a:tr h="7366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Documents Required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Manual document collection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Longer adjudication cycle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</a:tr>
              <a:tr h="736600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Incorrect Filing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Rejection/denial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Increased A/R + timely-filing risk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Business Problem &amp;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4008" cy="1828800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2704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BEFORE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04495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Validate claims before they are sent to the payer and identify issues that may cause rework, rejection or denial.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64008" cy="18288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2704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INTELLIGENT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38528"/>
            <a:ext cx="304495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Combine deterministic rules with AI-powered semantic retrieval of payer/provider agreement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371600"/>
            <a:ext cx="64008" cy="1828800"/>
          </a:xfrm>
          <a:prstGeom prst="rect">
            <a:avLst/>
          </a:prstGeom>
          <a:solidFill>
            <a:srgbClr val="2A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52704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FINANCIAL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938528"/>
            <a:ext cx="304495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Estimate allowed amount, adjustments, member cost share and overall patient responsibility.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Goal: reduce avoidable denials and improve clean-claim submission quality.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Provide an explainable summary rather than only a pass/fail result.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Support claims teams, coders, billers and reviewers with evidence-backed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02 •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End-to-End Claims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Claim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6668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7836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2700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Mandatory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4423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0456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Clinical / Coding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2180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8212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Payer Agreement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9935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1104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5968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Denial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7691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8860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3724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Summary /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2461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246120"/>
            <a:ext cx="64008" cy="1645920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40156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DETERMINISTIC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813048"/>
            <a:ext cx="304495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Required fields, formats, dates, provider/payer identifiers, timely filing and other rule-based validations.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461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246120"/>
            <a:ext cx="64008" cy="16459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40156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AI-ASSISTED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3813048"/>
            <a:ext cx="304495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Semantic matching against payer policies, contracts, procedure guidance and supporting documents.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2461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3246120"/>
            <a:ext cx="64008" cy="1645920"/>
          </a:xfrm>
          <a:prstGeom prst="rect">
            <a:avLst/>
          </a:prstGeom>
          <a:solidFill>
            <a:srgbClr val="2A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340156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3813048"/>
            <a:ext cx="304495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Prioritized findings with severity, rationale, evidence and recommended next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03 •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Mandatory Field &amp; Data Quality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1234440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813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Claim-level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7"/>
            <a:ext cx="4828032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Claim ID, patient/member details, payer, policy/member number and billing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64008" cy="123444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813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Provider-level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92807"/>
            <a:ext cx="4828032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Billing/rendering provider identifiers such as NPI and required taxonomy/location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34639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834639"/>
            <a:ext cx="64008" cy="1234440"/>
          </a:xfrm>
          <a:prstGeom prst="rect">
            <a:avLst/>
          </a:prstGeom>
          <a:solidFill>
            <a:srgbClr val="2A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990087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Service-line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401568"/>
            <a:ext cx="4828032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Service date, procedure code, units, charge, place of service and applicable modifiers.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34639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34639"/>
            <a:ext cx="64008" cy="1234440"/>
          </a:xfrm>
          <a:prstGeom prst="rect">
            <a:avLst/>
          </a:prstGeom>
          <a:solidFill>
            <a:srgbClr val="DA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990087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Diagnosis-level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401568"/>
            <a:ext cx="4828032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ICD-10-CM diagnosis codes and required relationships to services.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434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343400"/>
            <a:ext cx="64008" cy="1234440"/>
          </a:xfrm>
          <a:prstGeom prst="rect">
            <a:avLst/>
          </a:prstGeom>
          <a:solidFill>
            <a:srgbClr val="BE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49884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Date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910328"/>
            <a:ext cx="4828032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Service date, submission date and payer-specific timely filing window.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3434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343400"/>
            <a:ext cx="64008" cy="1234440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49884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910328"/>
            <a:ext cx="4828032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Missing / invalid fields are surfaced before downstream payer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04 • DENIAL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Potential Denial &amp; Payer Rule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783080"/>
          </a:xfrm>
          <a:prstGeom prst="rect">
            <a:avLst/>
          </a:prstGeom>
          <a:solidFill>
            <a:srgbClr val="BE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8132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Procedure Not 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92807"/>
            <a:ext cx="304495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Determine whether the billed procedure is covered under the applicable payer agreement/policy.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64008" cy="1783080"/>
          </a:xfrm>
          <a:prstGeom prst="rect">
            <a:avLst/>
          </a:prstGeom>
          <a:solidFill>
            <a:srgbClr val="DA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48132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Procedure ↔ 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92807"/>
            <a:ext cx="304495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Check whether the procedure is clinically/coding-wise consistent with the submitted diagnosis.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325880"/>
            <a:ext cx="64008" cy="1783080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48132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Modifier 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892807"/>
            <a:ext cx="304495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Validate whether the modifier is appropriate for the procedure and claim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474720"/>
            <a:ext cx="64008" cy="17830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63016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Prior Authorization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41648"/>
            <a:ext cx="304495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Identify services that require authorization and flag missing authorization information.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474720"/>
            <a:ext cx="64008" cy="1783080"/>
          </a:xfrm>
          <a:prstGeom prst="rect">
            <a:avLst/>
          </a:prstGeom>
          <a:solidFill>
            <a:srgbClr val="2A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63016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Timely Filing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041648"/>
            <a:ext cx="304495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Compare service/submission dates against the payer's filing limit.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3474720"/>
            <a:ext cx="64008" cy="1783080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363016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Other Payer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041648"/>
            <a:ext cx="304495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Surface policy-specific limitations, exclusions, frequency rules and documentation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05 •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AI Architecture – RAG + Semantic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7290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002536"/>
            <a:ext cx="126317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PDF / Agreements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1274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32442" y="1828800"/>
            <a:ext cx="137290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7306" y="2002536"/>
            <a:ext cx="126317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Text Extraction &amp; 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3636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4804" y="1828800"/>
            <a:ext cx="137290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9668" y="2002536"/>
            <a:ext cx="126317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5998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7166" y="1828800"/>
            <a:ext cx="137290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2030" y="2002536"/>
            <a:ext cx="126317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Vector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8361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9529" y="1828800"/>
            <a:ext cx="137290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4393" y="2002536"/>
            <a:ext cx="126317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Semantic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0723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01891" y="1828800"/>
            <a:ext cx="137290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6755" y="2002536"/>
            <a:ext cx="126317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LLM +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3085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4253" y="1828800"/>
            <a:ext cx="137290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9117" y="2002536"/>
            <a:ext cx="126317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Validation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Payer/provider agreements and policy documents are converted into searchable knowledge.</a:t>
            </a:r>
          </a:p>
          <a:p>
            <a:pPr>
              <a:spcAft>
                <a:spcPts val="8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Documents are chunked into meaningful sections and transformed into vector embeddings.</a:t>
            </a:r>
          </a:p>
          <a:p>
            <a:pPr>
              <a:spcAft>
                <a:spcPts val="8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For a claim, relevant clauses are retrieved using semantic similarity rather than exact keyword matching.</a:t>
            </a:r>
          </a:p>
          <a:p>
            <a:pPr>
              <a:spcAft>
                <a:spcPts val="8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The retrieved evidence is supplied to the validation layer to generate an explainable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06 • AI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How Embeddings &amp; Vector Search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4008" cy="2148840"/>
          </a:xfrm>
          <a:prstGeom prst="rect">
            <a:avLst/>
          </a:prstGeom>
          <a:solidFill>
            <a:srgbClr val="DA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2704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TRADITIONAL KEYWORD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090672" cy="1453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4303E"/>
                </a:solidFill>
                <a:latin typeface="Aptos"/>
              </a:defRPr>
            </a:pPr>
            <a:r>
              <a:t>May miss semantically equivalent language.</a:t>
            </a:r>
            <a:br/>
            <a:br/>
            <a:r>
              <a:t>Example: “cosmetic surgery” vs “elective aesthetic procedure”.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64008" cy="214884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2704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EMBEDDING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38528"/>
            <a:ext cx="3090672" cy="1453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4303E"/>
                </a:solidFill>
                <a:latin typeface="Aptos"/>
              </a:defRPr>
            </a:pPr>
            <a:r>
              <a:t>Represents text as vectors so conceptually similar passages can be retrieved even when wording differs.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37160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371600"/>
            <a:ext cx="64008" cy="2148840"/>
          </a:xfrm>
          <a:prstGeom prst="rect">
            <a:avLst/>
          </a:prstGeom>
          <a:solidFill>
            <a:srgbClr val="2A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52704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RAG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938528"/>
            <a:ext cx="3090672" cy="1453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4303E"/>
                </a:solidFill>
                <a:latin typeface="Aptos"/>
              </a:defRPr>
            </a:pPr>
            <a:r>
              <a:t>Uses retrieved policy/contract evidence to ground the validation explanation and reduce unsupported conclusions.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Query example: Procedure code + diagnosis + payer + denial question.</a:t>
            </a:r>
          </a:p>
          <a:p>
            <a:pPr>
              <a:spcAft>
                <a:spcPts val="8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Top matching document chunks become evidence for the claim-level decision.</a:t>
            </a:r>
          </a:p>
          <a:p>
            <a:pPr>
              <a:spcAft>
                <a:spcPts val="8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Metadata such as payer, agreement, section, effective date and document version can improve retrieval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07 • KNOWLEDGE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PDF → Vector Database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PDF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6668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7836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2700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Extract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4423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0456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Clean &amp;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2180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8212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Generate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9935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1104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5968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Store Vectors +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7691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8860" y="1828800"/>
            <a:ext cx="16383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3724" y="2002536"/>
            <a:ext cx="15285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Retrieve Relevant Chunks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2461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246120"/>
            <a:ext cx="64008" cy="1645920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40156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TRACEABILITY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813048"/>
            <a:ext cx="304495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Each chunk retains document name, section, page, payer and effective period metadata.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461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246120"/>
            <a:ext cx="64008" cy="16459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40156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RETRIEVAL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3813048"/>
            <a:ext cx="304495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Chunking balances context with retrieval precision.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2461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3246120"/>
            <a:ext cx="64008" cy="1645920"/>
          </a:xfrm>
          <a:prstGeom prst="rect">
            <a:avLst/>
          </a:prstGeom>
          <a:solidFill>
            <a:srgbClr val="2A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340156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REUSABLE KNOWLEDGE 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3813048"/>
            <a:ext cx="304495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The same pipeline can ingest provider agreements, payer policies, manuals and other reference material.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08 •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Claim Validation Result – Demo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4389120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8132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CLAIM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92807"/>
            <a:ext cx="3136392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03E"/>
                </a:solidFill>
                <a:latin typeface="Aptos"/>
              </a:defRPr>
            </a:pPr>
            <a:r>
              <a:t>Claim ID: CLM-100245</a:t>
            </a:r>
            <a:br/>
            <a:r>
              <a:t>Payer: Example Health Plan</a:t>
            </a:r>
            <a:br/>
            <a:r>
              <a:t>Provider NPI: 1234567890</a:t>
            </a:r>
            <a:br/>
            <a:r>
              <a:t>Service Lines: 4</a:t>
            </a:r>
            <a:br/>
            <a:r>
              <a:t>Total Billed: $2,450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64008" cy="4389120"/>
          </a:xfrm>
          <a:prstGeom prst="rect">
            <a:avLst/>
          </a:prstGeom>
          <a:solidFill>
            <a:srgbClr val="DA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8132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VALIDATION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892807"/>
            <a:ext cx="3136392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03E"/>
                </a:solidFill>
                <a:latin typeface="Aptos"/>
              </a:defRPr>
            </a:pPr>
            <a:r>
              <a:t>✓ Mandatory fields complete</a:t>
            </a:r>
            <a:br/>
            <a:r>
              <a:t>⚠ Procedure coverage: Review</a:t>
            </a:r>
            <a:br/>
            <a:r>
              <a:t>⚠ Diagnosis consistency: Review</a:t>
            </a:r>
            <a:br/>
            <a:r>
              <a:t>✓ Modifier validation passed</a:t>
            </a:r>
            <a:br/>
            <a:r>
              <a:t>⚠ Prior authorization: Required</a:t>
            </a:r>
            <a:br/>
            <a:r>
              <a:t>✓ Timely filing: Within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64008" cy="4389120"/>
          </a:xfrm>
          <a:prstGeom prst="rect">
            <a:avLst/>
          </a:prstGeom>
          <a:solidFill>
            <a:srgbClr val="2A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48132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RECOMMENDED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92807"/>
            <a:ext cx="3136392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03E"/>
                </a:solidFill>
                <a:latin typeface="Aptos"/>
              </a:defRPr>
            </a:pPr>
            <a:r>
              <a:t>Prioritize authorization review.</a:t>
            </a:r>
            <a:br/>
            <a:br/>
            <a:r>
              <a:t>Review the flagged procedure/diagnosis relationship against payer guidance.</a:t>
            </a:r>
            <a:br/>
            <a:br/>
            <a:r>
              <a:t>Display retrieved evidence and document section for reviewer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09 • FINANCIAL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EOB / Payment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06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Billed Amount – amount submitted by the provider.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Allowed Amount – estimated payer-allowed amount based on contract/payer rules.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Contractual Adjustment – difference between billed and allowed amounts, where applicable.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Possible Coinsurance – estimated member share based on benefit/contract rules.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Copay Amount – applicable fixed member contribution.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Patient Responsibility – estimated total member liability after payer processing.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80160"/>
            <a:ext cx="2971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280160"/>
            <a:ext cx="64008" cy="4297680"/>
          </a:xfrm>
          <a:prstGeom prst="rect">
            <a:avLst/>
          </a:prstGeom>
          <a:solidFill>
            <a:srgbClr val="DA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435607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1847088"/>
            <a:ext cx="2587752" cy="3602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03E"/>
                </a:solidFill>
                <a:latin typeface="Aptos"/>
              </a:defRPr>
            </a:pPr>
            <a:r>
              <a:t>The result is a prediction/estimate and should be clearly distinguished from the final payer-adjudicated EOB.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10 • FINANCIAL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Example EOB Calculation –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731520" y="1358265"/>
            <a:ext cx="6766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731520" y="1234440"/>
            <a:ext cx="64008" cy="566928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932688" y="13898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F223A"/>
                </a:solidFill>
                <a:latin typeface="Aptos"/>
              </a:defRPr>
            </a:pPr>
            <a:r>
              <a:t>Billed Amount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932688" y="1673352"/>
            <a:ext cx="638251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$2,450.00</a:t>
            </a: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731520" y="2042922"/>
            <a:ext cx="6766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731520" y="1947672"/>
            <a:ext cx="64008" cy="566928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932688" y="21031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F223A"/>
                </a:solidFill>
                <a:latin typeface="Aptos"/>
              </a:defRPr>
            </a:pPr>
            <a:r>
              <a:t>Allowed Amount</a:t>
            </a: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932688" y="2386584"/>
            <a:ext cx="638251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$1,800.00</a:t>
            </a:r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731520" y="2756154"/>
            <a:ext cx="6766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731520" y="2660904"/>
            <a:ext cx="64008" cy="566928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932688" y="281635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F223A"/>
                </a:solidFill>
                <a:latin typeface="Aptos"/>
              </a:defRPr>
            </a:pPr>
            <a:r>
              <a:t>Contractual Adjustment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932688" y="3099816"/>
            <a:ext cx="638251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$650.00</a:t>
            </a: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731520" y="3488436"/>
            <a:ext cx="6766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4"/>
            </p:custDataLst>
          </p:nvPr>
        </p:nvSpPr>
        <p:spPr>
          <a:xfrm>
            <a:off x="731520" y="3374136"/>
            <a:ext cx="64008" cy="566928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932688" y="352958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F223A"/>
                </a:solidFill>
                <a:latin typeface="Aptos"/>
              </a:defRPr>
            </a:pPr>
            <a:r>
              <a:t>Estimated Copay</a:t>
            </a:r>
          </a:p>
        </p:txBody>
      </p:sp>
      <p:sp>
        <p:nvSpPr>
          <p:cNvPr id="22" name="TextBox 21"/>
          <p:cNvSpPr txBox="1"/>
          <p:nvPr>
            <p:custDataLst>
              <p:tags r:id="rId16"/>
            </p:custDataLst>
          </p:nvPr>
        </p:nvSpPr>
        <p:spPr>
          <a:xfrm>
            <a:off x="932688" y="3813047"/>
            <a:ext cx="638251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$50.00</a:t>
            </a:r>
          </a:p>
        </p:txBody>
      </p:sp>
      <p:sp>
        <p:nvSpPr>
          <p:cNvPr id="23" name="Rounded Rectangle 22"/>
          <p:cNvSpPr/>
          <p:nvPr>
            <p:custDataLst>
              <p:tags r:id="rId17"/>
            </p:custDataLst>
          </p:nvPr>
        </p:nvSpPr>
        <p:spPr>
          <a:xfrm>
            <a:off x="731520" y="4220718"/>
            <a:ext cx="6766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>
            <p:custDataLst>
              <p:tags r:id="rId18"/>
            </p:custDataLst>
          </p:nvPr>
        </p:nvSpPr>
        <p:spPr>
          <a:xfrm>
            <a:off x="731520" y="4087368"/>
            <a:ext cx="64008" cy="566928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932688" y="424281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F223A"/>
                </a:solidFill>
                <a:latin typeface="Aptos"/>
              </a:defRPr>
            </a:pPr>
            <a:r>
              <a:t>Estimated Coinsurance</a:t>
            </a:r>
          </a:p>
        </p:txBody>
      </p:sp>
      <p:sp>
        <p:nvSpPr>
          <p:cNvPr id="26" name="TextBox 25"/>
          <p:cNvSpPr txBox="1"/>
          <p:nvPr>
            <p:custDataLst>
              <p:tags r:id="rId20"/>
            </p:custDataLst>
          </p:nvPr>
        </p:nvSpPr>
        <p:spPr>
          <a:xfrm>
            <a:off x="932688" y="4526280"/>
            <a:ext cx="638251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$175.00</a:t>
            </a:r>
          </a:p>
        </p:txBody>
      </p:sp>
      <p:sp>
        <p:nvSpPr>
          <p:cNvPr id="27" name="Rounded Rectangle 26"/>
          <p:cNvSpPr/>
          <p:nvPr>
            <p:custDataLst>
              <p:tags r:id="rId21"/>
            </p:custDataLst>
          </p:nvPr>
        </p:nvSpPr>
        <p:spPr>
          <a:xfrm>
            <a:off x="731520" y="4943475"/>
            <a:ext cx="6766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>
            <p:custDataLst>
              <p:tags r:id="rId22"/>
            </p:custDataLst>
          </p:nvPr>
        </p:nvSpPr>
        <p:spPr>
          <a:xfrm>
            <a:off x="731520" y="4800600"/>
            <a:ext cx="64008" cy="566928"/>
          </a:xfrm>
          <a:prstGeom prst="rect">
            <a:avLst/>
          </a:prstGeom>
          <a:solidFill>
            <a:srgbClr val="2A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>
            <p:custDataLst>
              <p:tags r:id="rId23"/>
            </p:custDataLst>
          </p:nvPr>
        </p:nvSpPr>
        <p:spPr>
          <a:xfrm>
            <a:off x="932688" y="49560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F223A"/>
                </a:solidFill>
                <a:latin typeface="Aptos"/>
              </a:defRPr>
            </a:pPr>
            <a:r>
              <a:t>Estimated Patient Responsibility</a:t>
            </a:r>
          </a:p>
        </p:txBody>
      </p:sp>
      <p:sp>
        <p:nvSpPr>
          <p:cNvPr id="30" name="TextBox 29"/>
          <p:cNvSpPr txBox="1"/>
          <p:nvPr>
            <p:custDataLst>
              <p:tags r:id="rId24"/>
            </p:custDataLst>
          </p:nvPr>
        </p:nvSpPr>
        <p:spPr>
          <a:xfrm>
            <a:off x="932688" y="5239512"/>
            <a:ext cx="638251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4303E"/>
                </a:solidFill>
                <a:latin typeface="Aptos"/>
              </a:defRPr>
            </a:pPr>
            <a:r>
              <a:t>$225.00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12344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1234440"/>
            <a:ext cx="64008" cy="425196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138988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223A"/>
                </a:solidFill>
                <a:latin typeface="Aptos"/>
              </a:defRPr>
            </a:pPr>
            <a:r>
              <a:t>CALCULATION NARRATIVE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1801368"/>
            <a:ext cx="3044952" cy="3557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03E"/>
                </a:solidFill>
                <a:latin typeface="Aptos"/>
              </a:defRPr>
            </a:pPr>
            <a:r>
              <a:t>The system combines claim data with payer/contract rules to estimate financial outcomes.</a:t>
            </a:r>
            <a:br/>
            <a:br/>
            <a:r>
              <a:t>It can explain which assumptions contributed to the estimate and identify values that require human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11 • PROJECT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Challenges &amp; Key Learnings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64008" cy="10972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81328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Strategy and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7"/>
            <a:ext cx="4690872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64008" cy="10972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81328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92807"/>
            <a:ext cx="4690872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64008" cy="10972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898648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Exploration of AI concepts such as RAG, Vector DB, Embeddings, Chunks, Semantic search, AI Agents etc..,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310128"/>
            <a:ext cx="4690872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64008" cy="10972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898648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Choosing the appropriate LLM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10128"/>
            <a:ext cx="4690872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64008" cy="10972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315968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API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727448"/>
            <a:ext cx="4690872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6052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160520"/>
            <a:ext cx="64008" cy="10972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315968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Trial and 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727448"/>
            <a:ext cx="4690872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12 •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Live Demo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17386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002536"/>
            <a:ext cx="10641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Upload Agreement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2228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3397" y="1828800"/>
            <a:ext cx="117386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261" y="2002536"/>
            <a:ext cx="10641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Index into Vector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5546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6713" y="1828800"/>
            <a:ext cx="117386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1577" y="2002536"/>
            <a:ext cx="10641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Load Sample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8863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0030" y="1828800"/>
            <a:ext cx="117386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4894" y="2002536"/>
            <a:ext cx="10641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Mandatory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2179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3347" y="1828800"/>
            <a:ext cx="117386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8211" y="2002536"/>
            <a:ext cx="10641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Retrieve Payer Clauses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5496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06665" y="1828800"/>
            <a:ext cx="117386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1529" y="2002536"/>
            <a:ext cx="10641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Denial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8813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9982" y="1828800"/>
            <a:ext cx="117386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4846" y="2002536"/>
            <a:ext cx="10641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Evidence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2130" y="2048256"/>
            <a:ext cx="182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93299" y="1828800"/>
            <a:ext cx="117386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48163" y="2002536"/>
            <a:ext cx="10641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F223A"/>
                </a:solidFill>
                <a:latin typeface="Aptos"/>
              </a:defRPr>
            </a:pPr>
            <a:r>
              <a:t>EOB Estimate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223A"/>
                </a:solidFill>
                <a:latin typeface="Aptos"/>
              </a:defRPr>
            </a:pPr>
            <a:r>
              <a:t>The demo follows the complete journey from document ingestion to claim-level decision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13 •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Business Value &amp;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64008" cy="1783080"/>
          </a:xfrm>
          <a:prstGeom prst="rect">
            <a:avLst/>
          </a:prstGeom>
          <a:solidFill>
            <a:srgbClr val="BE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2704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Fewer Avoidable Denials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38528"/>
            <a:ext cx="295351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Detect common issues before submission and prioritize high-risk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64008" cy="1783080"/>
          </a:xfrm>
          <a:prstGeom prst="rect">
            <a:avLst/>
          </a:prstGeom>
          <a:solidFill>
            <a:srgbClr val="21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52704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Faster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38528"/>
            <a:ext cx="295351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Bring claim data, payer guidance and validation results into one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37160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1371600"/>
            <a:ext cx="64008" cy="178308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152704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1938528"/>
            <a:ext cx="295351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Show relevant evidence and rationale instead of presenting a black-box 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2044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520440"/>
            <a:ext cx="64008" cy="1783080"/>
          </a:xfrm>
          <a:prstGeom prst="rect">
            <a:avLst/>
          </a:prstGeom>
          <a:solidFill>
            <a:srgbClr val="2A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67588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Financial 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87368"/>
            <a:ext cx="295351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Estimate allowed amount and member responsibility to support operational planning.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52044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520440"/>
            <a:ext cx="64008" cy="1783080"/>
          </a:xfrm>
          <a:prstGeom prst="rect">
            <a:avLst/>
          </a:prstGeom>
          <a:solidFill>
            <a:srgbClr val="DA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67588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223A"/>
                </a:solidFill>
                <a:latin typeface="Aptos"/>
              </a:defRPr>
            </a:pPr>
            <a:r>
              <a:t>Reusable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087368"/>
            <a:ext cx="2953512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Extend the knowledge base to new payers, agreements, policies and validation rules.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Confidence scoring for each validation result and denial prediction.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Human-in-the-loop approval workflow for high-impact decisions.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Continuous feedback loop using reviewer outcomes to improve retrieval and validation.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Payer-specific rule packs and effective-date/version management.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Dashboard for denial trends, top failure reasons and financial impact.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Integration with claims platforms, clearinghouses and downstream billing workflows.</a:t>
            </a:r>
          </a:p>
          <a:p>
            <a:pPr>
              <a:spcAft>
                <a:spcPts val="800"/>
              </a:spcAft>
              <a:defRPr sz="1500">
                <a:solidFill>
                  <a:srgbClr val="24303E"/>
                </a:solidFill>
                <a:latin typeface="Aptos"/>
              </a:defRPr>
            </a:pPr>
            <a:r>
              <a:t>• Automated audit trail showing claim data, retrieved evidence, rules applied and final decision.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922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/>
              <a:t>Outputs</a:t>
            </a:r>
            <a:endParaRPr lang="en-US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" y="1682750"/>
            <a:ext cx="12191365" cy="42138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6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>
                <a:sym typeface="+mn-ea"/>
              </a:rPr>
              <a:t>Validate_denial_claim functionality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190500" y="1223010"/>
            <a:ext cx="11422380" cy="4937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/>
              <a:t>Denial Prediction</a:t>
            </a:r>
            <a:endParaRPr lang="en-US" altLang="en-GB" sz="160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1. It receives the claim details such as Procedure code, description, Diagnosis code, Modifier etc.. to check the below 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	a) Use the policy document to search for the procedure description (e.g. Plastic surgery) using semantic search approach and produces all the possible matches with the relevance % search. 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/>
              <a:t>	One of the possible results after we semantic search 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	Document Reference: SYN_009_BRZ_Value_Health.pdf, Page: 3, Section: 13.Exclusions, 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	Policy Text: 13. Exclusions Excluded Service / Circumstance Non-covered convenience services Routine services outside the benefit 	schedule Cosmetic surgery Non-medically necessary procedures Experimental treatment	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	b) We use DB where we maintain the possible combinations of Procedure and diagnosis. We use this DB table to determines if the 	procedure is consistent with diagnosis	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	C) We use DB where we maintain the possible combinations of Procedure and Modifier. We use this DB table to determines if the 	procedure is consistent with Modifier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	</a:t>
            </a:r>
            <a:r>
              <a:rPr lang="en-US" altLang="en-GB" sz="1400"/>
              <a:t>Scope</a:t>
            </a:r>
            <a:r>
              <a:rPr lang="en-US" altLang="en-GB" sz="1400" b="0"/>
              <a:t>: We can extend this by determining other denials reasons such Prior authorization service, Timely filing limit, age of the patient examination and denied the same if required. 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80" y="5109845"/>
            <a:ext cx="4869180" cy="1564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7055" y="502920"/>
            <a:ext cx="10698480" cy="51371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>
                <a:sym typeface="+mn-ea"/>
              </a:rPr>
              <a:t>Validate_denial_claim functionality</a:t>
            </a:r>
            <a:endParaRPr lang="en-US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170180" y="1682750"/>
            <a:ext cx="11422380" cy="294449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800">
                <a:sym typeface="+mn-ea"/>
              </a:rPr>
              <a:t>EOB Calculation - Prediction</a:t>
            </a: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800" b="0">
                <a:sym typeface="+mn-ea"/>
              </a:rPr>
              <a:t>2. We also use the policy document to calculate the potential coinsurance and other patient responsibility to show the possible EOB calculation. </a:t>
            </a: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800" b="0">
                <a:sym typeface="+mn-ea"/>
              </a:rPr>
              <a:t>	</a:t>
            </a:r>
            <a:r>
              <a:rPr lang="en-US" altLang="en-GB" sz="1800">
                <a:sym typeface="+mn-ea"/>
              </a:rPr>
              <a:t>Scope</a:t>
            </a:r>
            <a:r>
              <a:rPr lang="en-US" altLang="en-GB" sz="1800" b="0">
                <a:sym typeface="+mn-ea"/>
              </a:rPr>
              <a:t>:</a:t>
            </a: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800" b="0">
                <a:sym typeface="+mn-ea"/>
              </a:rPr>
              <a:t>	1. We can use the Provider document to calculate the Contractual adjustment and same can be included in the EOB calculation</a:t>
            </a:r>
            <a:endParaRPr lang="en-US" sz="1800" b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4420235"/>
            <a:ext cx="6537960" cy="22326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922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/>
              <a:t>Outputs</a:t>
            </a:r>
            <a:endParaRPr lang="en-US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5" y="1118870"/>
            <a:ext cx="10812780" cy="52362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922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/>
              <a:t>Outputs</a:t>
            </a:r>
            <a:endParaRPr lang="en-US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35" y="1424940"/>
            <a:ext cx="11254740" cy="27508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922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/>
              <a:t>Technical Details</a:t>
            </a:r>
            <a:endParaRPr lang="en-US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170180" y="1682750"/>
            <a:ext cx="11422380" cy="294449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sz="1800" b="0"/>
              <a:t>1. Semantic search</a:t>
            </a:r>
            <a:endParaRPr lang="en-US" sz="18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sz="1800" b="0"/>
              <a:t>- Fetches the claim details by claim_id (that we pass from UI)</a:t>
            </a:r>
            <a:endParaRPr lang="en-US" sz="18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sz="1800" b="0"/>
              <a:t>- Locate the policy document for the patient (who is associated with claim)</a:t>
            </a:r>
            <a:endParaRPr lang="en-US" sz="18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sz="1800" b="0"/>
              <a:t>- We use RAGEngine, we set the meta data as follow</a:t>
            </a:r>
            <a:endParaRPr lang="en-US" sz="18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policy_pages = []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loader = DocumentLoader()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for document in policy_documents: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path = str(document["FilePath"])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for page in loader.load_pdf(path):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page.metadata.update(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    {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        "claim_id": claim_id,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        "document_id": str(document["DocumentId"]),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        "document_tag": "PolicyDocument",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    }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)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policy_pages.append(page)</a:t>
            </a:r>
            <a:endParaRPr lang="en-US" altLang="en-GB" sz="12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sz="1800" b="0"/>
              <a:t>-  Retrieve the details by searching the procedure code</a:t>
            </a:r>
            <a:endParaRPr lang="en-US" sz="18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922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/>
              <a:t>Technical Approach</a:t>
            </a:r>
            <a:endParaRPr lang="en-US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170180" y="1682750"/>
            <a:ext cx="1142238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sz="1800" b="0"/>
              <a:t>-  Retrieve the details by searching the procedure code</a:t>
            </a:r>
            <a:endParaRPr lang="en-US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rag = RAGEngine()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rag.replace_claim_documents(claim_id, policy_pages)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evidence = rag.retrieve(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    (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        f"{procedure_code} exclusions limitations excluded services "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        "unpaid services non-covered services"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    ),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    top_k=20,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    metadata_filter={"claim_id": claim_id},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)</a:t>
            </a: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sz="1800" b="0"/>
              <a:t>-  Iterate each search results using the below code</a:t>
            </a:r>
            <a:br>
              <a:rPr lang="en-US" sz="1800" b="0"/>
            </a:br>
            <a:br>
              <a:rPr lang="en-US" sz="1800" b="0"/>
            </a:br>
            <a:r>
              <a:rPr lang="en-US" altLang="en-GB" sz="1800" b="0"/>
              <a:t> </a:t>
            </a:r>
            <a:r>
              <a:rPr lang="en-US" altLang="en-GB" sz="1400" b="0"/>
              <a:t>procedure_pattern = re.compile(rf"(?&lt;![A-Z0-9]){re.escape(procedure_code.upper())}(?![A-Z0-9])")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return [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item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for item in evidence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    if procedure_pattern.search(str(item["text"]).upper())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]</a:t>
            </a: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sz="1800" b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922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/>
              <a:t>Technical Files - embedding_factory.py</a:t>
            </a:r>
            <a:endParaRPr lang="en-US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170180" y="1238885"/>
            <a:ext cx="11422380" cy="558736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sz="1800" b="0"/>
              <a:t>-  If any sections of the result has the name either “</a:t>
            </a:r>
            <a:r>
              <a:rPr lang="en-US" altLang="en-GB" sz="1800" b="0"/>
              <a:t>  "limitation", "excluded service", "exclusions","unpaid service", "non-covered service", "non covered service", "not covered service", "exclusion", then it is considered as non-covered service</a:t>
            </a: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800"/>
              <a:t>embedding_factory.py</a:t>
            </a:r>
            <a:endParaRPr lang="en-US" altLang="en-GB" sz="180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"""Embedding provider factory for the RAG engine."""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from __future__ import annotations</a:t>
            </a:r>
            <a:br>
              <a:rPr lang="en-US" sz="1600" b="0"/>
            </a:br>
            <a:r>
              <a:rPr lang="en-US" altLang="en-GB" sz="1400" b="0"/>
              <a:t>from langchain_core.embeddings import Embeddings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from langchain_community.embeddings import HuggingFaceEmbeddings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from langchain_openai import OpenAIEmbeddings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from ai_service.config import AISettings, ai_settings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def get_embeddings(settings: AISettings | None = None) -&gt; Embeddings: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cfg = settings or ai_settings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if cfg.EMBEDDING_PROVIDER.lower() == 'huggingface' or not cfg.OPENAI_API_KEY.get_secret_value():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return HuggingFaceEmbeddings(model_name='all-MiniLM-L6-v2')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return OpenAIEmbeddings(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model=cfg.OPENAI_EMBEDDING_MODEL,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api_key=cfg.OPENAI_API_KEY,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    base_url=cfg.OPENAI_BASE_URL or None,</a:t>
            </a:r>
            <a:endParaRPr lang="en-US" altLang="en-GB" sz="14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400" b="0"/>
              <a:t>    )</a:t>
            </a:r>
            <a:endParaRPr lang="en-US" altLang="en-GB" sz="1400" b="0"/>
          </a:p>
          <a:p>
            <a:pPr indent="457200"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400" b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922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/>
              <a:t>Technical Files - rag_engine.py</a:t>
            </a:r>
            <a:endParaRPr lang="en-US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170180" y="1238885"/>
            <a:ext cx="11422380" cy="558736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/>
              <a:t>rag_engine.py</a:t>
            </a:r>
            <a:endParaRPr lang="en-US" altLang="en-GB" sz="160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"""Simple Chroma-backed retrieval engine for AI features."""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from __future__ import annotations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import logging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from pathlib import Path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from typing import Any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from langchain_text_splitters import RecursiveCharacterTextSplitter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from langchain_core.documents import Document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from langchain_community.vectorstores import Chroma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from ai_service.config import AISettings, ai_settings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from ai_service.rag.embedding_factory import get_embeddings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logger = logging.getLogger(__name__)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CHUNK_SIZE = 512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CHUNK_OVERLAP = 64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COLLECTION_NAME = 'healthcare-claims-kb'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922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>
                <a:sym typeface="+mn-ea"/>
              </a:rPr>
              <a:t>Technical Files - rag_engine.py</a:t>
            </a:r>
            <a:endParaRPr lang="en-US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170180" y="1238885"/>
            <a:ext cx="11422380" cy="558736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800">
                <a:sym typeface="+mn-ea"/>
              </a:rPr>
              <a:t>rag_engine.py</a:t>
            </a:r>
            <a:endParaRPr lang="en-US" altLang="en-GB" sz="180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8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class RAGEngine: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def __init__(self, settings: AISettings | None = None, embeddings: Any | None = None, vector_store: Any | None = None) -&gt; None: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self._settings = settings or ai_settings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self._embeddings = embeddings or get_embeddings(self._settings)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self._vector_store = vector_store or Chroma(collection_name=COLLECTION_NAME, embedding_function=self._embeddings, persist_directory=self._settings.CHROMA_PERSIST_DIR)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def ingest(self, docs: list[Document]) -&gt; int: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if not docs: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    return 0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Path(self._settings.CHROMA_PERSIST_DIR).mkdir(parents=True, exist_ok=True)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splitter = RecursiveCharacterTextSplitter(chunk_size=CHUNK_SIZE, chunk_overlap=CHUNK_OVERLAP)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chunks = splitter.split_documents(docs)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self._vector_store.add_documents(chunks)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persist = getattr(self._vector_store, 'persist', None)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if callable(persist):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    persist()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return len(chunks)</a:t>
            </a:r>
            <a:endParaRPr lang="en-US" altLang="en-GB" sz="1600" b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6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>
                <a:sym typeface="+mn-ea"/>
              </a:rPr>
              <a:t>Technical Files - rag_engine.py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305435" y="1238885"/>
            <a:ext cx="11422380" cy="558736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800">
                <a:sym typeface="+mn-ea"/>
              </a:rPr>
              <a:t>rag_engine.py</a:t>
            </a:r>
            <a:endParaRPr lang="en-US" altLang="en-GB" sz="1800">
              <a:sym typeface="+mn-ea"/>
            </a:endParaRPr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def replace_claim_documents(self, claim_id: str, docs: list[Document]) -&gt; int: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"""Replace a claim's indexed policy document chunks."""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self._vector_store.delete(where={'claim_id': claim_id})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       return self.ingest(docs)</a:t>
            </a:r>
            <a:endParaRPr lang="en-US" altLang="en-GB" sz="1200" b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791"/>
                </a:solidFill>
                <a:latin typeface="Aptos"/>
              </a:defRPr>
            </a:pPr>
            <a:r>
              <a:t>14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698480" cy="506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>
                <a:sym typeface="+mn-ea"/>
              </a:rPr>
              <a:t>Technical Files - rag_engine.py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1101852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305435" y="1238885"/>
            <a:ext cx="11422380" cy="558736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800">
                <a:sym typeface="+mn-ea"/>
              </a:rPr>
              <a:t>rag_engine.py</a:t>
            </a:r>
            <a:r>
              <a:rPr lang="en-US" altLang="en-GB" sz="1600" b="0"/>
              <a:t> </a:t>
            </a:r>
            <a:endParaRPr lang="en-US" altLang="en-GB" sz="16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600" b="0"/>
              <a:t> </a:t>
            </a:r>
            <a:r>
              <a:rPr lang="en-US" altLang="en-GB" sz="1200" b="0"/>
              <a:t>def retrieve(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self,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query: str,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top_k: int = 5,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metadata_filter: dict[str, str] | None = None,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) -&gt; list[dict[str, Any]]: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try: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results = self._vector_store.similarity_search_with_relevance_scores(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query,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k=top_k,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filter=metadata_filter,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)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except Exception as exc: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logger.error('RAG retrieval failed: %s', type(exc).__name__)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raise RuntimeError('Vector search failed') from exc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payload: list[dict[str, Any]] = []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for document, score in results: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source = document.metadata.get('source') or document.metadata.get('file_path') or 'unknown'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payload.append(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{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'text': document.page_content,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'source': str(source),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'page': document.metadata.get('page'),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'section': str(document.metadata.get('section', 'Uncategorized')),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    'relevance': float(score),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    }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    )</a:t>
            </a:r>
            <a:endParaRPr lang="en-US" altLang="en-GB" sz="1200" b="0"/>
          </a:p>
          <a:p>
            <a:pPr algn="l">
              <a:defRPr sz="2700" b="1">
                <a:solidFill>
                  <a:srgbClr val="0F223A"/>
                </a:solidFill>
                <a:latin typeface="Aptos"/>
              </a:defRPr>
            </a:pPr>
            <a:r>
              <a:rPr lang="en-US" altLang="en-GB" sz="1200" b="0"/>
              <a:t>        return payload</a:t>
            </a:r>
            <a:endParaRPr lang="en-US" altLang="en-GB" sz="1200" b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AADCE1"/>
                </a:solidFill>
                <a:latin typeface="Aptos"/>
              </a:defRPr>
            </a:pPr>
            <a:r>
              <a:t>FROM REACTIVE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Denial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AADCE1"/>
                </a:solidFill>
                <a:latin typeface="Aptos"/>
              </a:defRPr>
            </a:pPr>
            <a:r>
              <a:t>TO PROACTIVE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9875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AI-Assisted Claims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5196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DDCE8"/>
                </a:solidFill>
                <a:latin typeface="Aptos"/>
              </a:defRPr>
            </a:pPr>
            <a:r>
              <a:t>RAG + Embeddings + Semantic Search + Vector DB + Rules + EOB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508760" cy="365760"/>
          </a:xfrm>
          <a:prstGeom prst="round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14*331"/>
  <p:tag name="TABLE_ENDDRAG_RECT" val="45*120*814*331"/>
</p:tagLst>
</file>

<file path=ppt/tags/tag2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3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4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5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6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7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8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9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0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1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2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3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4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5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6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7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8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19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20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21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22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23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24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ags/tag25.xml><?xml version="1.0" encoding="utf-8"?>
<p:tagLst xmlns:p="http://schemas.openxmlformats.org/presentationml/2006/main">
  <p:tag name="KSO_WM_DIAGRAM_VIRTUALLY_FRAME" val="{&quot;height&quot;:336.68999999999994,&quot;left&quot;:57.6,&quot;top&quot;:97.2,&quot;width&quot;:532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15500</Words>
  <Application>WPS Presentation</Application>
  <PresentationFormat>On-screen Show (4:3)</PresentationFormat>
  <Paragraphs>717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PrasadDhass</cp:lastModifiedBy>
  <cp:revision>22</cp:revision>
  <dcterms:created xsi:type="dcterms:W3CDTF">2013-01-27T09:14:00Z</dcterms:created>
  <dcterms:modified xsi:type="dcterms:W3CDTF">2026-09-12T17:47:50Z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FC5E16C5FBA940F78D3B6F221B1C62E8_12</vt:lpwstr>
  </property>
  <property fmtid="{D5CDD505-2E9C-101B-9397-08002B2CF9AE}" pid="3" name="KSOProductBuildVer">
    <vt:lpwstr>2057-12.2.0.23206</vt:lpwstr>
  </property>
</Properties>
</file>